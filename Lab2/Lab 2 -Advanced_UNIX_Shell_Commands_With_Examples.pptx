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75" r:id="rId4"/>
    <p:sldId id="283" r:id="rId5"/>
    <p:sldId id="260" r:id="rId6"/>
    <p:sldId id="276" r:id="rId7"/>
    <p:sldId id="262" r:id="rId8"/>
    <p:sldId id="263" r:id="rId9"/>
    <p:sldId id="264" r:id="rId10"/>
    <p:sldId id="277" r:id="rId11"/>
    <p:sldId id="278" r:id="rId12"/>
    <p:sldId id="279" r:id="rId13"/>
    <p:sldId id="280" r:id="rId14"/>
    <p:sldId id="268" r:id="rId15"/>
    <p:sldId id="269" r:id="rId16"/>
    <p:sldId id="270" r:id="rId17"/>
    <p:sldId id="281" r:id="rId18"/>
    <p:sldId id="282" r:id="rId19"/>
    <p:sldId id="272" r:id="rId20"/>
    <p:sldId id="273" r:id="rId21"/>
    <p:sldId id="274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E7EFFB-DAED-473C-8C3A-4A10723F4218}" v="14" dt="2026-01-13T10:50:25.0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dhura D N [MAHE-MIT]" userId="aaa2a86e-82ba-4014-b54b-0d1bdf15d5b3" providerId="ADAL" clId="{769EF769-1D77-4AFD-B1B2-98E392514974}"/>
    <pc:docChg chg="undo custSel addSld modSld">
      <pc:chgData name="Sindhura D N [MAHE-MIT]" userId="aaa2a86e-82ba-4014-b54b-0d1bdf15d5b3" providerId="ADAL" clId="{769EF769-1D77-4AFD-B1B2-98E392514974}" dt="2026-01-13T10:52:02.918" v="447" actId="255"/>
      <pc:docMkLst>
        <pc:docMk/>
      </pc:docMkLst>
      <pc:sldChg chg="modSp mod">
        <pc:chgData name="Sindhura D N [MAHE-MIT]" userId="aaa2a86e-82ba-4014-b54b-0d1bdf15d5b3" providerId="ADAL" clId="{769EF769-1D77-4AFD-B1B2-98E392514974}" dt="2026-01-13T09:40:30.268" v="31" actId="5793"/>
        <pc:sldMkLst>
          <pc:docMk/>
          <pc:sldMk cId="0" sldId="258"/>
        </pc:sldMkLst>
        <pc:spChg chg="mod">
          <ac:chgData name="Sindhura D N [MAHE-MIT]" userId="aaa2a86e-82ba-4014-b54b-0d1bdf15d5b3" providerId="ADAL" clId="{769EF769-1D77-4AFD-B1B2-98E392514974}" dt="2026-01-13T09:40:30.268" v="31" actId="5793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Sindhura D N [MAHE-MIT]" userId="aaa2a86e-82ba-4014-b54b-0d1bdf15d5b3" providerId="ADAL" clId="{769EF769-1D77-4AFD-B1B2-98E392514974}" dt="2026-01-13T10:14:57.211" v="201"/>
        <pc:sldMkLst>
          <pc:docMk/>
          <pc:sldMk cId="0" sldId="263"/>
        </pc:sldMkLst>
        <pc:spChg chg="mod">
          <ac:chgData name="Sindhura D N [MAHE-MIT]" userId="aaa2a86e-82ba-4014-b54b-0d1bdf15d5b3" providerId="ADAL" clId="{769EF769-1D77-4AFD-B1B2-98E392514974}" dt="2026-01-13T10:14:57.211" v="201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Sindhura D N [MAHE-MIT]" userId="aaa2a86e-82ba-4014-b54b-0d1bdf15d5b3" providerId="ADAL" clId="{769EF769-1D77-4AFD-B1B2-98E392514974}" dt="2026-01-13T10:03:37.671" v="186" actId="20577"/>
        <pc:sldMkLst>
          <pc:docMk/>
          <pc:sldMk cId="2274160452" sldId="276"/>
        </pc:sldMkLst>
        <pc:spChg chg="mod">
          <ac:chgData name="Sindhura D N [MAHE-MIT]" userId="aaa2a86e-82ba-4014-b54b-0d1bdf15d5b3" providerId="ADAL" clId="{769EF769-1D77-4AFD-B1B2-98E392514974}" dt="2026-01-13T10:03:37.671" v="186" actId="20577"/>
          <ac:spMkLst>
            <pc:docMk/>
            <pc:sldMk cId="2274160452" sldId="276"/>
            <ac:spMk id="3" creationId="{3158D1BF-BB2B-6E2B-A686-C150F4059EE6}"/>
          </ac:spMkLst>
        </pc:spChg>
      </pc:sldChg>
      <pc:sldChg chg="delSp modSp mod modClrScheme chgLayout">
        <pc:chgData name="Sindhura D N [MAHE-MIT]" userId="aaa2a86e-82ba-4014-b54b-0d1bdf15d5b3" providerId="ADAL" clId="{769EF769-1D77-4AFD-B1B2-98E392514974}" dt="2026-01-13T10:29:21.811" v="317" actId="20577"/>
        <pc:sldMkLst>
          <pc:docMk/>
          <pc:sldMk cId="78360229" sldId="278"/>
        </pc:sldMkLst>
        <pc:spChg chg="del mod">
          <ac:chgData name="Sindhura D N [MAHE-MIT]" userId="aaa2a86e-82ba-4014-b54b-0d1bdf15d5b3" providerId="ADAL" clId="{769EF769-1D77-4AFD-B1B2-98E392514974}" dt="2026-01-13T10:24:01.393" v="244" actId="700"/>
          <ac:spMkLst>
            <pc:docMk/>
            <pc:sldMk cId="78360229" sldId="278"/>
            <ac:spMk id="2" creationId="{B8A1EFF3-2B9B-61C6-026A-9ECDCF66AB01}"/>
          </ac:spMkLst>
        </pc:spChg>
        <pc:spChg chg="mod ord">
          <ac:chgData name="Sindhura D N [MAHE-MIT]" userId="aaa2a86e-82ba-4014-b54b-0d1bdf15d5b3" providerId="ADAL" clId="{769EF769-1D77-4AFD-B1B2-98E392514974}" dt="2026-01-13T10:29:21.811" v="317" actId="20577"/>
          <ac:spMkLst>
            <pc:docMk/>
            <pc:sldMk cId="78360229" sldId="278"/>
            <ac:spMk id="3" creationId="{1FB57F3A-B44F-3D18-8B5E-727F90B7D64E}"/>
          </ac:spMkLst>
        </pc:spChg>
      </pc:sldChg>
      <pc:sldChg chg="modSp mod">
        <pc:chgData name="Sindhura D N [MAHE-MIT]" userId="aaa2a86e-82ba-4014-b54b-0d1bdf15d5b3" providerId="ADAL" clId="{769EF769-1D77-4AFD-B1B2-98E392514974}" dt="2026-01-13T10:40:04.073" v="349" actId="6549"/>
        <pc:sldMkLst>
          <pc:docMk/>
          <pc:sldMk cId="35032530" sldId="280"/>
        </pc:sldMkLst>
        <pc:spChg chg="mod">
          <ac:chgData name="Sindhura D N [MAHE-MIT]" userId="aaa2a86e-82ba-4014-b54b-0d1bdf15d5b3" providerId="ADAL" clId="{769EF769-1D77-4AFD-B1B2-98E392514974}" dt="2026-01-13T10:40:04.073" v="349" actId="6549"/>
          <ac:spMkLst>
            <pc:docMk/>
            <pc:sldMk cId="35032530" sldId="280"/>
            <ac:spMk id="3" creationId="{E37E96E5-7502-AADC-6B6E-22926D1B8DCD}"/>
          </ac:spMkLst>
        </pc:spChg>
      </pc:sldChg>
      <pc:sldChg chg="modSp mod">
        <pc:chgData name="Sindhura D N [MAHE-MIT]" userId="aaa2a86e-82ba-4014-b54b-0d1bdf15d5b3" providerId="ADAL" clId="{769EF769-1D77-4AFD-B1B2-98E392514974}" dt="2026-01-13T10:52:02.918" v="447" actId="255"/>
        <pc:sldMkLst>
          <pc:docMk/>
          <pc:sldMk cId="3149825033" sldId="282"/>
        </pc:sldMkLst>
        <pc:spChg chg="mod">
          <ac:chgData name="Sindhura D N [MAHE-MIT]" userId="aaa2a86e-82ba-4014-b54b-0d1bdf15d5b3" providerId="ADAL" clId="{769EF769-1D77-4AFD-B1B2-98E392514974}" dt="2026-01-13T10:52:02.918" v="447" actId="255"/>
          <ac:spMkLst>
            <pc:docMk/>
            <pc:sldMk cId="3149825033" sldId="282"/>
            <ac:spMk id="3" creationId="{4F4351E7-83B6-5DFA-EB26-21DD182CCD81}"/>
          </ac:spMkLst>
        </pc:spChg>
      </pc:sldChg>
      <pc:sldChg chg="modSp new mod">
        <pc:chgData name="Sindhura D N [MAHE-MIT]" userId="aaa2a86e-82ba-4014-b54b-0d1bdf15d5b3" providerId="ADAL" clId="{769EF769-1D77-4AFD-B1B2-98E392514974}" dt="2026-01-13T10:03:20.070" v="182" actId="255"/>
        <pc:sldMkLst>
          <pc:docMk/>
          <pc:sldMk cId="2916349300" sldId="283"/>
        </pc:sldMkLst>
        <pc:spChg chg="mod">
          <ac:chgData name="Sindhura D N [MAHE-MIT]" userId="aaa2a86e-82ba-4014-b54b-0d1bdf15d5b3" providerId="ADAL" clId="{769EF769-1D77-4AFD-B1B2-98E392514974}" dt="2026-01-13T10:03:20.070" v="182" actId="255"/>
          <ac:spMkLst>
            <pc:docMk/>
            <pc:sldMk cId="2916349300" sldId="283"/>
            <ac:spMk id="3" creationId="{3E982624-37ED-E1C8-E4E0-5A8A6CBA6B1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1341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218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739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680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305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561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698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438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606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657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866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4804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UNIX Shell </a:t>
            </a: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 No. 2</a:t>
            </a:r>
          </a:p>
          <a:p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 Lab</a:t>
            </a:r>
          </a:p>
          <a:p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Focus: Commands, Examples &amp; Diagrams</a:t>
            </a:r>
          </a:p>
          <a:p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/>
              <a:t>Objectives: </a:t>
            </a:r>
            <a:endParaRPr lang="en-IN" dirty="0"/>
          </a:p>
          <a:p>
            <a:r>
              <a:rPr lang="en-IN" dirty="0"/>
              <a:t>To know the UNIX shell, special characters and commands. </a:t>
            </a:r>
          </a:p>
          <a:p>
            <a:r>
              <a:rPr lang="en-IN" dirty="0"/>
              <a:t>To describe Unix commands. </a:t>
            </a:r>
          </a:p>
          <a:p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solidFill>
                  <a:srgbClr val="C00000"/>
                </a:solidFill>
              </a:rPr>
              <a:t>grep Command: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417320"/>
            <a:ext cx="7543801" cy="4023360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text patterns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g/re/p [globally search a regular expression and print]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grep  --help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grep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someText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fileName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case insensitive search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22EA6-2938-BD15-D7B6-DF3ACD5D9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With regular expressions: 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B7A31-FE01-2185-EE6E-3BF005C9F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grep -E ^&lt;text&gt; 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fileName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grep -E &lt;0-4&gt; 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fileName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grep –E &lt;a-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-Z&gt; 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fileName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288954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91E16-183D-2C1F-7D32-9A7E09819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82624-37ED-E1C8-E4E0-5A8A6CBA6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Grep &lt;word&gt; &lt;filename&gt;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grep &lt;word&gt; file1 file2 file3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grep text *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grep -x apple fruitlist.txt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grep --</a:t>
            </a:r>
            <a:r>
              <a:rPr lang="en-IN" sz="2400" dirty="0" err="1"/>
              <a:t>color</a:t>
            </a:r>
            <a:r>
              <a:rPr lang="en-IN" sz="2400" dirty="0"/>
              <a:t> &lt; word&gt; &lt;filename&gt;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grep ^p fruitlist.txt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grep -v apple fruitlist.txt </a:t>
            </a:r>
          </a:p>
        </p:txBody>
      </p:sp>
    </p:spTree>
    <p:extLst>
      <p:ext uri="{BB962C8B-B14F-4D97-AF65-F5344CB8AC3E}">
        <p14:creationId xmlns:p14="http://schemas.microsoft.com/office/powerpoint/2010/main" val="2916349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C00000"/>
                </a:solidFill>
              </a:rPr>
              <a:t>sort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Command:</a:t>
            </a: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prints the lines of its input or concatenation of all files listed in its argument list in sorted order 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sort names.txt</a:t>
            </a:r>
          </a:p>
          <a:p>
            <a:pPr marL="0" indent="0">
              <a:buNone/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-n Numeric sort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-r Reverse sort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1B701-7188-94CE-F96B-26998F14F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Examples: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8D1BF-BB2B-6E2B-A686-C150F4059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&lt;any number of filenames&gt; #sort the content of file(s)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fileName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#sort alphabetically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-o &lt;file&gt; 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outputFile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#write result to a file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-r 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fileName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#sort in reverse order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-n 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fileName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#sort numbers </a:t>
            </a:r>
          </a:p>
        </p:txBody>
      </p:sp>
    </p:spTree>
    <p:extLst>
      <p:ext uri="{BB962C8B-B14F-4D97-AF65-F5344CB8AC3E}">
        <p14:creationId xmlns:p14="http://schemas.microsoft.com/office/powerpoint/2010/main" val="2274160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>
                <a:solidFill>
                  <a:srgbClr val="C00000"/>
                </a:solidFill>
              </a:rPr>
              <a:t>wc</a:t>
            </a:r>
            <a:r>
              <a:rPr b="1" dirty="0">
                <a:solidFill>
                  <a:srgbClr val="C00000"/>
                </a:solidFill>
              </a:rPr>
              <a:t> Command </a:t>
            </a:r>
            <a:r>
              <a:rPr lang="en-IN" b="1" dirty="0">
                <a:solidFill>
                  <a:srgbClr val="C00000"/>
                </a:solidFill>
              </a:rPr>
              <a:t>(word count) </a:t>
            </a:r>
            <a:endParaRPr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2800" b="1" dirty="0">
                <a:solidFill>
                  <a:srgbClr val="C00000"/>
                </a:solidFill>
              </a:rPr>
              <a:t>Command</a:t>
            </a:r>
            <a:r>
              <a:rPr sz="2800" dirty="0">
                <a:solidFill>
                  <a:srgbClr val="C00000"/>
                </a:solidFill>
              </a:rPr>
              <a:t>:</a:t>
            </a:r>
            <a:r>
              <a:rPr lang="en-IN" sz="2800" dirty="0">
                <a:solidFill>
                  <a:srgbClr val="C00000"/>
                </a:solidFill>
              </a:rPr>
              <a:t> </a:t>
            </a:r>
            <a:r>
              <a:rPr sz="2800" dirty="0" err="1"/>
              <a:t>wc</a:t>
            </a:r>
            <a:r>
              <a:rPr sz="2800" dirty="0"/>
              <a:t> file.txt</a:t>
            </a:r>
          </a:p>
          <a:p>
            <a:r>
              <a:rPr sz="2800" b="1" dirty="0">
                <a:solidFill>
                  <a:srgbClr val="C00000"/>
                </a:solidFill>
              </a:rPr>
              <a:t>Output:</a:t>
            </a:r>
            <a:r>
              <a:rPr lang="en-IN" sz="2800" b="1" dirty="0">
                <a:solidFill>
                  <a:srgbClr val="C00000"/>
                </a:solidFill>
              </a:rPr>
              <a:t> </a:t>
            </a:r>
            <a:r>
              <a:rPr sz="2800" dirty="0"/>
              <a:t>Lines Words Characters</a:t>
            </a:r>
            <a:endParaRPr lang="en-IN" sz="2800" dirty="0"/>
          </a:p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I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wc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en-I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fileName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</a:p>
          <a:p>
            <a:endParaRPr lang="en-IN" dirty="0"/>
          </a:p>
          <a:p>
            <a:r>
              <a:rPr lang="en-IN" b="1" dirty="0">
                <a:solidFill>
                  <a:srgbClr val="C00000"/>
                </a:solidFill>
              </a:rPr>
              <a:t>Arguments includes: </a:t>
            </a:r>
            <a:r>
              <a:rPr lang="en-IN" sz="2400" dirty="0"/>
              <a:t>-l (lines)</a:t>
            </a:r>
          </a:p>
          <a:p>
            <a:r>
              <a:rPr lang="en-IN" sz="2400" dirty="0"/>
              <a:t>                                -w (words)</a:t>
            </a:r>
          </a:p>
          <a:p>
            <a:r>
              <a:rPr lang="en-IN" sz="2400" dirty="0"/>
              <a:t>                                 -c (byte size)</a:t>
            </a:r>
          </a:p>
          <a:p>
            <a:r>
              <a:rPr lang="en-IN" sz="2400" dirty="0"/>
              <a:t>$ </a:t>
            </a:r>
            <a:r>
              <a:rPr lang="en-IN" sz="2400" dirty="0" err="1"/>
              <a:t>wc</a:t>
            </a:r>
            <a:r>
              <a:rPr lang="en-IN" sz="2400" dirty="0"/>
              <a:t> * : counts for all files in the current directory. </a:t>
            </a:r>
            <a:endParaRPr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95D597-B033-8E03-80F9-4E15E316DB39}"/>
              </a:ext>
            </a:extLst>
          </p:cNvPr>
          <p:cNvSpPr/>
          <p:nvPr/>
        </p:nvSpPr>
        <p:spPr>
          <a:xfrm>
            <a:off x="2679405" y="2870791"/>
            <a:ext cx="3987209" cy="9356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C00000"/>
                </a:solidFill>
              </a:rPr>
              <a:t>cut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800" dirty="0"/>
              <a:t>cut is a data filter: it extracts columns from tabular data. </a:t>
            </a:r>
            <a:endParaRPr sz="2800" dirty="0"/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 –c 1 record.txt  </a:t>
            </a:r>
            <a:r>
              <a:rPr lang="en-IN" dirty="0"/>
              <a:t># -c specifies characters to be extracted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 –c 1,4,7 record.txt </a:t>
            </a:r>
            <a:r>
              <a:rPr lang="en-IN" dirty="0"/>
              <a:t>#characters 1, 4, and 7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 -c1-3,8 record.txt </a:t>
            </a:r>
            <a:r>
              <a:rPr lang="en-IN" dirty="0"/>
              <a:t>#characters 1 thru 3, and 8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 -c3- record.txt  </a:t>
            </a:r>
            <a:r>
              <a:rPr lang="en-IN" dirty="0"/>
              <a:t>#characters 3 thru last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 –f 1,4,7 record.txt </a:t>
            </a:r>
            <a:r>
              <a:rPr lang="en-IN" dirty="0"/>
              <a:t>#-f specifies fields to be extracted. 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C00000"/>
                </a:solidFill>
              </a:rPr>
              <a:t>sed Command</a:t>
            </a:r>
            <a:r>
              <a:rPr lang="en-IN" b="1" dirty="0">
                <a:solidFill>
                  <a:srgbClr val="C00000"/>
                </a:solidFill>
              </a:rPr>
              <a:t> (stream editor) </a:t>
            </a:r>
            <a:endParaRPr b="1" dirty="0">
              <a:solidFill>
                <a:srgbClr val="C00000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5143E38-E51C-6996-8C21-F1C443370B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2960" y="1737361"/>
            <a:ext cx="7248746" cy="4539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sed stands for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 Editor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to perform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basic text transformations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Works on: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 of other commands (via pipes)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Processes input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line by line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Very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large files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A21F3-F2B7-5A89-FC6E-3AAF026D3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Features of </a:t>
            </a:r>
            <a:r>
              <a:rPr lang="en-IN" b="1" dirty="0" err="1">
                <a:solidFill>
                  <a:srgbClr val="C00000"/>
                </a:solidFill>
              </a:rPr>
              <a:t>sed</a:t>
            </a:r>
            <a:r>
              <a:rPr lang="en-IN" b="1" dirty="0">
                <a:solidFill>
                  <a:srgbClr val="C00000"/>
                </a:solidFill>
              </a:rPr>
              <a:t>: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83AA2-E21B-36B0-0D11-EB15CF361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Performs editing in </a:t>
            </a:r>
            <a:r>
              <a:rPr lang="en-IN" sz="2800" b="1" dirty="0"/>
              <a:t>single pass</a:t>
            </a: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C00000"/>
                </a:solidFill>
              </a:rPr>
              <a:t>Supports: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800" dirty="0"/>
              <a:t>Search &amp; replace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800" dirty="0"/>
              <a:t>Delete lines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800" dirty="0"/>
              <a:t>Insert and append text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800" dirty="0"/>
              <a:t>Print selected lines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Works with </a:t>
            </a:r>
            <a:r>
              <a:rPr lang="en-IN" sz="2800" b="1" dirty="0"/>
              <a:t>regular expressions</a:t>
            </a: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52444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57F3A-B44F-3D18-8B5E-727F90B7D64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15679" y="230114"/>
            <a:ext cx="8309344" cy="606436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sed</a:t>
            </a:r>
            <a:r>
              <a:rPr lang="en-IN" dirty="0"/>
              <a:t> –e  '</a:t>
            </a:r>
            <a:r>
              <a:rPr lang="en-IN" b="1" dirty="0">
                <a:solidFill>
                  <a:srgbClr val="C00000"/>
                </a:solidFill>
              </a:rPr>
              <a:t>s</a:t>
            </a:r>
            <a:r>
              <a:rPr lang="en-IN" dirty="0"/>
              <a:t>/input/output/' </a:t>
            </a:r>
            <a:r>
              <a:rPr lang="en-IN" dirty="0" err="1"/>
              <a:t>my_file</a:t>
            </a:r>
            <a:endParaRPr lang="en-IN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sed</a:t>
            </a:r>
            <a:r>
              <a:rPr lang="en-IN" dirty="0"/>
              <a:t> –e  '</a:t>
            </a:r>
            <a:r>
              <a:rPr lang="en-IN" b="1" dirty="0">
                <a:solidFill>
                  <a:srgbClr val="C00000"/>
                </a:solidFill>
              </a:rPr>
              <a:t>s</a:t>
            </a:r>
            <a:r>
              <a:rPr lang="en-IN" dirty="0"/>
              <a:t>/input/output/g' </a:t>
            </a:r>
            <a:r>
              <a:rPr lang="en-IN" dirty="0" err="1"/>
              <a:t>my_file</a:t>
            </a:r>
            <a:r>
              <a:rPr lang="en-IN" dirty="0"/>
              <a:t>    </a:t>
            </a:r>
            <a:r>
              <a:rPr lang="en-IN" dirty="0">
                <a:solidFill>
                  <a:srgbClr val="C00000"/>
                </a:solidFill>
              </a:rPr>
              <a:t># g stands for global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sed</a:t>
            </a:r>
            <a:r>
              <a:rPr lang="en-IN" dirty="0"/>
              <a:t> –e  '</a:t>
            </a:r>
            <a:r>
              <a:rPr lang="en-IN" b="1" dirty="0">
                <a:solidFill>
                  <a:srgbClr val="C00000"/>
                </a:solidFill>
              </a:rPr>
              <a:t>s</a:t>
            </a:r>
            <a:r>
              <a:rPr lang="en-IN" dirty="0"/>
              <a:t>/input/output/' </a:t>
            </a:r>
            <a:r>
              <a:rPr lang="en-IN" dirty="0" err="1"/>
              <a:t>my_file</a:t>
            </a:r>
            <a:r>
              <a:rPr lang="en-IN" dirty="0"/>
              <a:t> &gt; </a:t>
            </a:r>
            <a:r>
              <a:rPr lang="en-IN" dirty="0" err="1"/>
              <a:t>new_file</a:t>
            </a:r>
            <a:r>
              <a:rPr lang="en-IN" dirty="0"/>
              <a:t>   </a:t>
            </a:r>
            <a:r>
              <a:rPr lang="en-IN" dirty="0">
                <a:solidFill>
                  <a:srgbClr val="C00000"/>
                </a:solidFill>
              </a:rPr>
              <a:t># redirect output to file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sed</a:t>
            </a:r>
            <a:r>
              <a:rPr lang="en-IN" dirty="0"/>
              <a:t> -</a:t>
            </a:r>
            <a:r>
              <a:rPr lang="en-IN" dirty="0" err="1"/>
              <a:t>i</a:t>
            </a:r>
            <a:r>
              <a:rPr lang="en-IN" dirty="0"/>
              <a:t> –e  '</a:t>
            </a:r>
            <a:r>
              <a:rPr lang="en-IN" b="1" dirty="0">
                <a:solidFill>
                  <a:srgbClr val="C00000"/>
                </a:solidFill>
              </a:rPr>
              <a:t>s</a:t>
            </a:r>
            <a:r>
              <a:rPr lang="en-IN" dirty="0"/>
              <a:t>/input/output/' </a:t>
            </a:r>
            <a:r>
              <a:rPr lang="en-IN" dirty="0" err="1"/>
              <a:t>my_file</a:t>
            </a:r>
            <a:r>
              <a:rPr lang="en-IN" dirty="0"/>
              <a:t>   </a:t>
            </a:r>
            <a:r>
              <a:rPr lang="en-IN" dirty="0">
                <a:solidFill>
                  <a:srgbClr val="C00000"/>
                </a:solidFill>
              </a:rPr>
              <a:t>#edit the existing file in place you should use the </a:t>
            </a:r>
            <a:r>
              <a:rPr lang="en-IN" i="1" dirty="0">
                <a:solidFill>
                  <a:srgbClr val="C00000"/>
                </a:solidFill>
              </a:rPr>
              <a:t>-</a:t>
            </a:r>
            <a:r>
              <a:rPr lang="en-IN" i="1" dirty="0" err="1">
                <a:solidFill>
                  <a:srgbClr val="C00000"/>
                </a:solidFill>
              </a:rPr>
              <a:t>i</a:t>
            </a:r>
            <a:r>
              <a:rPr lang="en-IN" i="1" dirty="0">
                <a:solidFill>
                  <a:srgbClr val="C00000"/>
                </a:solidFill>
              </a:rPr>
              <a:t> </a:t>
            </a:r>
            <a:r>
              <a:rPr lang="en-IN" dirty="0">
                <a:solidFill>
                  <a:srgbClr val="C00000"/>
                </a:solidFill>
              </a:rPr>
              <a:t>flag </a:t>
            </a:r>
            <a:endParaRPr lang="en-IN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sed</a:t>
            </a:r>
            <a:r>
              <a:rPr lang="en-IN" dirty="0"/>
              <a:t> –e  '</a:t>
            </a:r>
            <a:r>
              <a:rPr lang="en-IN" b="1" dirty="0">
                <a:solidFill>
                  <a:srgbClr val="C00000"/>
                </a:solidFill>
              </a:rPr>
              <a:t>s</a:t>
            </a:r>
            <a:r>
              <a:rPr lang="en-IN" dirty="0"/>
              <a:t>/[0-9]*/(&amp;)/' </a:t>
            </a:r>
            <a:r>
              <a:rPr lang="en-IN" dirty="0" err="1"/>
              <a:t>my_file</a:t>
            </a:r>
            <a:r>
              <a:rPr lang="en-IN" dirty="0"/>
              <a:t>    </a:t>
            </a:r>
            <a:r>
              <a:rPr lang="en-IN" dirty="0">
                <a:solidFill>
                  <a:srgbClr val="C00000"/>
                </a:solidFill>
              </a:rPr>
              <a:t>#'</a:t>
            </a:r>
            <a:r>
              <a:rPr lang="en-IN" i="1" dirty="0">
                <a:solidFill>
                  <a:srgbClr val="C00000"/>
                </a:solidFill>
              </a:rPr>
              <a:t>&amp;</a:t>
            </a:r>
            <a:r>
              <a:rPr lang="en-IN" dirty="0">
                <a:solidFill>
                  <a:srgbClr val="C00000"/>
                </a:solidFill>
              </a:rPr>
              <a:t>' corresponds to the pattern found. </a:t>
            </a:r>
          </a:p>
          <a:p>
            <a:pPr marL="0" indent="0">
              <a:lnSpc>
                <a:spcPct val="20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360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043" y="457200"/>
            <a:ext cx="8455914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2049" y="521208"/>
            <a:ext cx="835990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238843-E442-62AD-EA9C-181A00B0B5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4711298"/>
              </p:ext>
            </p:extLst>
          </p:nvPr>
        </p:nvGraphicFramePr>
        <p:xfrm>
          <a:off x="736726" y="905933"/>
          <a:ext cx="7694551" cy="5039728"/>
        </p:xfrm>
        <a:graphic>
          <a:graphicData uri="http://schemas.openxmlformats.org/drawingml/2006/table">
            <a:tbl>
              <a:tblPr>
                <a:solidFill>
                  <a:srgbClr val="404040"/>
                </a:solidFill>
              </a:tblPr>
              <a:tblGrid>
                <a:gridCol w="2642591">
                  <a:extLst>
                    <a:ext uri="{9D8B030D-6E8A-4147-A177-3AD203B41FA5}">
                      <a16:colId xmlns:a16="http://schemas.microsoft.com/office/drawing/2014/main" val="3717206272"/>
                    </a:ext>
                  </a:extLst>
                </a:gridCol>
                <a:gridCol w="5051960">
                  <a:extLst>
                    <a:ext uri="{9D8B030D-6E8A-4147-A177-3AD203B41FA5}">
                      <a16:colId xmlns:a16="http://schemas.microsoft.com/office/drawing/2014/main" val="1030037050"/>
                    </a:ext>
                  </a:extLst>
                </a:gridCol>
              </a:tblGrid>
              <a:tr h="629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bg1"/>
                          </a:solidFill>
                        </a:rPr>
                        <a:t>Command</a:t>
                      </a:r>
                    </a:p>
                  </a:txBody>
                  <a:tcPr marL="161530" marR="161530" marT="161530" marB="80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bg1"/>
                          </a:solidFill>
                        </a:rPr>
                        <a:t>Meaning</a:t>
                      </a:r>
                    </a:p>
                  </a:txBody>
                  <a:tcPr marL="161530" marR="161530" marT="161530" marB="80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587064"/>
                  </a:ext>
                </a:extLst>
              </a:tr>
              <a:tr h="629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bg1"/>
                          </a:solidFill>
                        </a:rPr>
                        <a:t>s</a:t>
                      </a:r>
                    </a:p>
                  </a:txBody>
                  <a:tcPr marL="161530" marR="161530" marT="161530" marB="80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bg1"/>
                          </a:solidFill>
                        </a:rPr>
                        <a:t>Substitute</a:t>
                      </a:r>
                    </a:p>
                  </a:txBody>
                  <a:tcPr marL="161530" marR="161530" marT="161530" marB="80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24041"/>
                  </a:ext>
                </a:extLst>
              </a:tr>
              <a:tr h="629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marL="161530" marR="161530" marT="161530" marB="80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bg1"/>
                          </a:solidFill>
                        </a:rPr>
                        <a:t>Delete</a:t>
                      </a:r>
                    </a:p>
                  </a:txBody>
                  <a:tcPr marL="161530" marR="161530" marT="161530" marB="80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308594"/>
                  </a:ext>
                </a:extLst>
              </a:tr>
              <a:tr h="629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bg1"/>
                          </a:solidFill>
                        </a:rPr>
                        <a:t>p</a:t>
                      </a:r>
                    </a:p>
                  </a:txBody>
                  <a:tcPr marL="161530" marR="161530" marT="161530" marB="80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bg1"/>
                          </a:solidFill>
                        </a:rPr>
                        <a:t>Print</a:t>
                      </a:r>
                    </a:p>
                  </a:txBody>
                  <a:tcPr marL="161530" marR="161530" marT="161530" marB="80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897936"/>
                  </a:ext>
                </a:extLst>
              </a:tr>
              <a:tr h="629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bg1"/>
                          </a:solidFill>
                        </a:rPr>
                        <a:t>i</a:t>
                      </a:r>
                    </a:p>
                  </a:txBody>
                  <a:tcPr marL="161530" marR="161530" marT="161530" marB="80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bg1"/>
                          </a:solidFill>
                        </a:rPr>
                        <a:t>Insert</a:t>
                      </a:r>
                    </a:p>
                  </a:txBody>
                  <a:tcPr marL="161530" marR="161530" marT="161530" marB="80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2481911"/>
                  </a:ext>
                </a:extLst>
              </a:tr>
              <a:tr h="629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marL="161530" marR="161530" marT="161530" marB="80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bg1"/>
                          </a:solidFill>
                        </a:rPr>
                        <a:t>Append</a:t>
                      </a:r>
                    </a:p>
                  </a:txBody>
                  <a:tcPr marL="161530" marR="161530" marT="161530" marB="80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958"/>
                  </a:ext>
                </a:extLst>
              </a:tr>
              <a:tr h="629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bg1"/>
                          </a:solidFill>
                        </a:rPr>
                        <a:t>-n</a:t>
                      </a:r>
                    </a:p>
                  </a:txBody>
                  <a:tcPr marL="161530" marR="161530" marT="161530" marB="80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bg1"/>
                          </a:solidFill>
                        </a:rPr>
                        <a:t>Suppress default output</a:t>
                      </a:r>
                    </a:p>
                  </a:txBody>
                  <a:tcPr marL="161530" marR="161530" marT="161530" marB="80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099980"/>
                  </a:ext>
                </a:extLst>
              </a:tr>
              <a:tr h="629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bg1"/>
                          </a:solidFill>
                        </a:rPr>
                        <a:t>-i</a:t>
                      </a:r>
                    </a:p>
                  </a:txBody>
                  <a:tcPr marL="161530" marR="161530" marT="161530" marB="80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bg1"/>
                          </a:solidFill>
                        </a:rPr>
                        <a:t>Edit file in-place</a:t>
                      </a:r>
                    </a:p>
                  </a:txBody>
                  <a:tcPr marL="161530" marR="161530" marT="161530" marB="80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4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4654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12D80-238B-E945-5AF8-1AE525EDC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tr (translate)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E96E5-7502-AADC-6B6E-22926D1B8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079" y="1845734"/>
            <a:ext cx="8633637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 filter is used to translate one set of characters from the standard inputs to an- other. 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200" i="1" dirty="0"/>
              <a:t>tr  ‘a-z’ ‘A-Z’ &lt; example.txt</a:t>
            </a:r>
            <a:endParaRPr lang="en-IN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200" i="1" dirty="0"/>
              <a:t>tr '</a:t>
            </a:r>
            <a:r>
              <a:rPr lang="en-IN" sz="3200" i="1" dirty="0" err="1"/>
              <a:t>abcd</a:t>
            </a:r>
            <a:r>
              <a:rPr lang="en-IN" sz="3200" i="1" dirty="0"/>
              <a:t>' '</a:t>
            </a:r>
            <a:r>
              <a:rPr lang="en-IN" sz="3200" i="1" dirty="0" err="1"/>
              <a:t>jkmn</a:t>
            </a:r>
            <a:r>
              <a:rPr lang="en-IN" sz="3200" i="1" dirty="0"/>
              <a:t>’ </a:t>
            </a:r>
          </a:p>
        </p:txBody>
      </p:sp>
    </p:spTree>
    <p:extLst>
      <p:ext uri="{BB962C8B-B14F-4D97-AF65-F5344CB8AC3E}">
        <p14:creationId xmlns:p14="http://schemas.microsoft.com/office/powerpoint/2010/main" val="35032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C00000"/>
                </a:solidFill>
              </a:rPr>
              <a:t>Process management commands :</a:t>
            </a:r>
            <a:endParaRPr sz="40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rgbClr val="C00000"/>
                </a:solidFill>
              </a:rPr>
              <a:t>P</a:t>
            </a:r>
            <a:r>
              <a:rPr sz="3600" b="1" dirty="0">
                <a:solidFill>
                  <a:srgbClr val="C00000"/>
                </a:solidFill>
              </a:rPr>
              <a:t>s</a:t>
            </a:r>
            <a:r>
              <a:rPr lang="en-IN" sz="3600" b="1" dirty="0">
                <a:solidFill>
                  <a:srgbClr val="C00000"/>
                </a:solidFill>
              </a:rPr>
              <a:t> :</a:t>
            </a:r>
            <a:r>
              <a:rPr lang="en-IN" sz="3600" dirty="0"/>
              <a:t>process status </a:t>
            </a:r>
            <a:endParaRPr sz="3600" dirty="0"/>
          </a:p>
          <a:p>
            <a:r>
              <a:rPr lang="en-IN" sz="2800" b="1" dirty="0">
                <a:solidFill>
                  <a:srgbClr val="C00000"/>
                </a:solidFill>
              </a:rPr>
              <a:t>$ </a:t>
            </a:r>
            <a:r>
              <a:rPr lang="en-IN" sz="2800" b="1" dirty="0" err="1">
                <a:solidFill>
                  <a:srgbClr val="C00000"/>
                </a:solidFill>
              </a:rPr>
              <a:t>ps</a:t>
            </a:r>
            <a:r>
              <a:rPr lang="en-IN" sz="2800" b="1" dirty="0">
                <a:solidFill>
                  <a:srgbClr val="C00000"/>
                </a:solidFill>
              </a:rPr>
              <a:t> </a:t>
            </a:r>
          </a:p>
          <a:p>
            <a:r>
              <a:rPr lang="en-IN" b="1" dirty="0"/>
              <a:t>PID        TTY 		TIME		 CMD </a:t>
            </a:r>
            <a:endParaRPr sz="36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5972A9-73E3-6228-FAB8-DCAA6090E9B7}"/>
              </a:ext>
            </a:extLst>
          </p:cNvPr>
          <p:cNvSpPr/>
          <p:nvPr/>
        </p:nvSpPr>
        <p:spPr>
          <a:xfrm>
            <a:off x="659219" y="2360428"/>
            <a:ext cx="6028660" cy="13290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C00000"/>
                </a:solidFill>
              </a:rPr>
              <a:t>kill Command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Kill </a:t>
            </a:r>
            <a:r>
              <a:rPr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Forcefully terminates process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kill -9 PID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/>
              <a:t>kill 1234 </a:t>
            </a:r>
          </a:p>
          <a:p>
            <a:r>
              <a:rPr lang="en-IN" dirty="0"/>
              <a:t>kill -s TERM 1234 kill -TERM 1234 </a:t>
            </a:r>
          </a:p>
          <a:p>
            <a:r>
              <a:rPr lang="en-IN" dirty="0"/>
              <a:t>kill -15 1234 </a:t>
            </a:r>
          </a:p>
          <a:p>
            <a:endParaRPr lang="en-IN" dirty="0"/>
          </a:p>
          <a:p>
            <a:r>
              <a:rPr lang="en-IN" dirty="0"/>
              <a:t>The process can be sent a SIGKILL signal in three ways: </a:t>
            </a:r>
          </a:p>
          <a:p>
            <a:r>
              <a:rPr lang="en-IN" dirty="0"/>
              <a:t>kill -s KILL 1234 </a:t>
            </a:r>
          </a:p>
          <a:p>
            <a:r>
              <a:rPr lang="en-IN" dirty="0"/>
              <a:t>kill -KILL 1234 </a:t>
            </a:r>
          </a:p>
          <a:p>
            <a:r>
              <a:rPr lang="en-IN" dirty="0"/>
              <a:t>kill -9 1234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chmod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Numeric Mode:</a:t>
            </a:r>
          </a:p>
          <a:p>
            <a:r>
              <a:t> chmod 755 file.sh</a:t>
            </a:r>
          </a:p>
          <a:p>
            <a:endParaRPr/>
          </a:p>
          <a:p>
            <a:r>
              <a:t>Symbolic Mode:</a:t>
            </a:r>
          </a:p>
          <a:p>
            <a:r>
              <a:t> chmod u+x file.sh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FD16121-5908-3B45-D86C-D799AFA43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681" y="0"/>
            <a:ext cx="6278637" cy="619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130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4AE5D-ACAD-1A66-C504-D80CE1912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Other useful commands 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351E7-83B6-5DFA-EB26-21DD182CC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1. echo</a:t>
            </a:r>
          </a:p>
          <a:p>
            <a:r>
              <a:rPr lang="en-IN" sz="4000" dirty="0"/>
              <a:t>2. </a:t>
            </a:r>
            <a:r>
              <a:rPr lang="en-IN" sz="4000" dirty="0" err="1"/>
              <a:t>bc</a:t>
            </a:r>
            <a:endParaRPr lang="en-IN" sz="4000" dirty="0"/>
          </a:p>
          <a:p>
            <a:r>
              <a:rPr lang="en-IN" sz="2800" b="1" dirty="0">
                <a:solidFill>
                  <a:srgbClr val="C00000"/>
                </a:solidFill>
              </a:rPr>
              <a:t>Example: </a:t>
            </a:r>
          </a:p>
          <a:p>
            <a:r>
              <a:rPr lang="en-IN" sz="2400" dirty="0" err="1"/>
              <a:t>bc</a:t>
            </a:r>
            <a:r>
              <a:rPr lang="en-IN" sz="2400" dirty="0"/>
              <a:t>  (press enter) 3+2</a:t>
            </a:r>
          </a:p>
          <a:p>
            <a:r>
              <a:rPr lang="en-IN" sz="2400" dirty="0" err="1"/>
              <a:t>bc</a:t>
            </a:r>
            <a:r>
              <a:rPr lang="en-IN" sz="2400" dirty="0"/>
              <a:t> –l   # for floating point answer</a:t>
            </a:r>
          </a:p>
          <a:p>
            <a:r>
              <a:rPr lang="en-IN" sz="2400" dirty="0" err="1"/>
              <a:t>bc</a:t>
            </a:r>
            <a:r>
              <a:rPr lang="en-IN" sz="2400" dirty="0"/>
              <a:t> 3&gt;2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149825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C00000"/>
                </a:solidFill>
              </a:rPr>
              <a:t>vi Editor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 Mode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Mode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Line Mode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 Commands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:w  Save</a:t>
            </a:r>
          </a:p>
          <a:p>
            <a:r>
              <a:t>:q  Quit</a:t>
            </a:r>
          </a:p>
          <a:p>
            <a:r>
              <a:t>:wq Save &amp; Quit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Text Processing</a:t>
            </a:r>
          </a:p>
          <a:p>
            <a:r>
              <a:t>✔ Process Management</a:t>
            </a:r>
          </a:p>
          <a:p>
            <a:r>
              <a:t>✔ File Permissions</a:t>
            </a:r>
          </a:p>
          <a:p>
            <a:r>
              <a:t>✔ Hands-on Practice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155</TotalTime>
  <Words>780</Words>
  <Application>Microsoft Office PowerPoint</Application>
  <PresentationFormat>On-screen Show (4:3)</PresentationFormat>
  <Paragraphs>143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Retrospect</vt:lpstr>
      <vt:lpstr>Advanced UNIX Shell Commands</vt:lpstr>
      <vt:lpstr>grep Command:</vt:lpstr>
      <vt:lpstr>With regular expressions: </vt:lpstr>
      <vt:lpstr>PowerPoint Presentation</vt:lpstr>
      <vt:lpstr>sort Command</vt:lpstr>
      <vt:lpstr>Examples:</vt:lpstr>
      <vt:lpstr>wc Command (word count) </vt:lpstr>
      <vt:lpstr>cut Command</vt:lpstr>
      <vt:lpstr>sed Command (stream editor) </vt:lpstr>
      <vt:lpstr>Features of sed:</vt:lpstr>
      <vt:lpstr>PowerPoint Presentation</vt:lpstr>
      <vt:lpstr>PowerPoint Presentation</vt:lpstr>
      <vt:lpstr>tr (translate) </vt:lpstr>
      <vt:lpstr>Process management commands :</vt:lpstr>
      <vt:lpstr>kill Command – Example</vt:lpstr>
      <vt:lpstr>chmod – Example</vt:lpstr>
      <vt:lpstr>PowerPoint Presentation</vt:lpstr>
      <vt:lpstr>Other useful commands </vt:lpstr>
      <vt:lpstr>vi Editor</vt:lpstr>
      <vt:lpstr>vi Commands – Example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Sindhura D N [MAHE-MIT]</cp:lastModifiedBy>
  <cp:revision>36</cp:revision>
  <dcterms:created xsi:type="dcterms:W3CDTF">2013-01-27T09:14:16Z</dcterms:created>
  <dcterms:modified xsi:type="dcterms:W3CDTF">2026-01-13T10:52:05Z</dcterms:modified>
  <cp:category/>
</cp:coreProperties>
</file>